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435089FA-929C-41CF-B8C1-AAB96C81E03A}">
          <p14:sldIdLst>
            <p14:sldId id="256"/>
            <p14:sldId id="257"/>
            <p14:sldId id="258"/>
            <p14:sldId id="259"/>
          </p14:sldIdLst>
        </p14:section>
        <p14:section name="Untitled Section" id="{C33A8EDB-5BB4-4E3A-A8CD-A2DB304316BF}">
          <p14:sldIdLst>
            <p14:sldId id="260"/>
            <p14:sldId id="261"/>
            <p14:sldId id="262"/>
            <p14:sldId id="26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588" autoAdjust="0"/>
  </p:normalViewPr>
  <p:slideViewPr>
    <p:cSldViewPr snapToGrid="0">
      <p:cViewPr varScale="1">
        <p:scale>
          <a:sx n="99" d="100"/>
          <a:sy n="99"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FCD40-2F8D-4CE3-B6B5-DF6C104EF3CC}"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99B1F-C0C3-4B3A-B413-C9CAD84D58FA}" type="slidenum">
              <a:rPr lang="en-US" smtClean="0"/>
              <a:t>‹#›</a:t>
            </a:fld>
            <a:endParaRPr lang="en-US"/>
          </a:p>
        </p:txBody>
      </p:sp>
    </p:spTree>
    <p:extLst>
      <p:ext uri="{BB962C8B-B14F-4D97-AF65-F5344CB8AC3E}">
        <p14:creationId xmlns:p14="http://schemas.microsoft.com/office/powerpoint/2010/main" val="1360332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will review the planning phase of the Golden Hour Studios website project. We will talk about key decisions, progress to date, and the budget to ensure everyone is aligned before moving into development. This meeting is designed to get input, address any questions, and confirm the plan before execution begins.</a:t>
            </a:r>
          </a:p>
        </p:txBody>
      </p:sp>
      <p:sp>
        <p:nvSpPr>
          <p:cNvPr id="4" name="Slide Number Placeholder 3"/>
          <p:cNvSpPr>
            <a:spLocks noGrp="1"/>
          </p:cNvSpPr>
          <p:nvPr>
            <p:ph type="sldNum" sz="quarter" idx="5"/>
          </p:nvPr>
        </p:nvSpPr>
        <p:spPr/>
        <p:txBody>
          <a:bodyPr/>
          <a:lstStyle/>
          <a:p>
            <a:fld id="{E9499B1F-C0C3-4B3A-B413-C9CAD84D58FA}" type="slidenum">
              <a:rPr lang="en-US" smtClean="0"/>
              <a:t>1</a:t>
            </a:fld>
            <a:endParaRPr lang="en-US"/>
          </a:p>
        </p:txBody>
      </p:sp>
    </p:spTree>
    <p:extLst>
      <p:ext uri="{BB962C8B-B14F-4D97-AF65-F5344CB8AC3E}">
        <p14:creationId xmlns:p14="http://schemas.microsoft.com/office/powerpoint/2010/main" val="359567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to create a visually appealing website for Golden Hour Studios. The gallery will showcase the studio’s photography work, along with services and packages. While also providing a smooth, responsive experience for all devices. The goal is to create a professional online presence that attracts new clients and engages visitors. This clear concept will guide all design and development decisions.</a:t>
            </a:r>
          </a:p>
        </p:txBody>
      </p:sp>
      <p:sp>
        <p:nvSpPr>
          <p:cNvPr id="4" name="Slide Number Placeholder 3"/>
          <p:cNvSpPr>
            <a:spLocks noGrp="1"/>
          </p:cNvSpPr>
          <p:nvPr>
            <p:ph type="sldNum" sz="quarter" idx="5"/>
          </p:nvPr>
        </p:nvSpPr>
        <p:spPr/>
        <p:txBody>
          <a:bodyPr/>
          <a:lstStyle/>
          <a:p>
            <a:fld id="{E9499B1F-C0C3-4B3A-B413-C9CAD84D58FA}" type="slidenum">
              <a:rPr lang="en-US" smtClean="0"/>
              <a:t>2</a:t>
            </a:fld>
            <a:endParaRPr lang="en-US"/>
          </a:p>
        </p:txBody>
      </p:sp>
    </p:spTree>
    <p:extLst>
      <p:ext uri="{BB962C8B-B14F-4D97-AF65-F5344CB8AC3E}">
        <p14:creationId xmlns:p14="http://schemas.microsoft.com/office/powerpoint/2010/main" val="1141430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stakeholders for this project. Each member is responsible for specific aspects of the website, from requirements gathering and design to development and testing. Their collaboration keeps us on schedule and helps us meet project goals. Having clearly defined roles helps prevent confusion and guarantees accountability throughout the project.</a:t>
            </a:r>
          </a:p>
        </p:txBody>
      </p:sp>
      <p:sp>
        <p:nvSpPr>
          <p:cNvPr id="4" name="Slide Number Placeholder 3"/>
          <p:cNvSpPr>
            <a:spLocks noGrp="1"/>
          </p:cNvSpPr>
          <p:nvPr>
            <p:ph type="sldNum" sz="quarter" idx="5"/>
          </p:nvPr>
        </p:nvSpPr>
        <p:spPr/>
        <p:txBody>
          <a:bodyPr/>
          <a:lstStyle/>
          <a:p>
            <a:fld id="{E9499B1F-C0C3-4B3A-B413-C9CAD84D58FA}" type="slidenum">
              <a:rPr lang="en-US" smtClean="0"/>
              <a:t>3</a:t>
            </a:fld>
            <a:endParaRPr lang="en-US"/>
          </a:p>
        </p:txBody>
      </p:sp>
    </p:spTree>
    <p:extLst>
      <p:ext uri="{BB962C8B-B14F-4D97-AF65-F5344CB8AC3E}">
        <p14:creationId xmlns:p14="http://schemas.microsoft.com/office/powerpoint/2010/main" val="909818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covers core website pages, visual design, and functionality. We have collected detailed requirements through stakeholder interviews to make sure the final website meets expectations. These requirements guide development priorities and help us avoid scope creep. Clearly defining the scope now will allow us to track progress and make informed decisions throughout the project.</a:t>
            </a:r>
          </a:p>
        </p:txBody>
      </p:sp>
      <p:sp>
        <p:nvSpPr>
          <p:cNvPr id="4" name="Slide Number Placeholder 3"/>
          <p:cNvSpPr>
            <a:spLocks noGrp="1"/>
          </p:cNvSpPr>
          <p:nvPr>
            <p:ph type="sldNum" sz="quarter" idx="5"/>
          </p:nvPr>
        </p:nvSpPr>
        <p:spPr/>
        <p:txBody>
          <a:bodyPr/>
          <a:lstStyle/>
          <a:p>
            <a:fld id="{E9499B1F-C0C3-4B3A-B413-C9CAD84D58FA}" type="slidenum">
              <a:rPr lang="en-US" smtClean="0"/>
              <a:t>4</a:t>
            </a:fld>
            <a:endParaRPr lang="en-US"/>
          </a:p>
        </p:txBody>
      </p:sp>
    </p:spTree>
    <p:extLst>
      <p:ext uri="{BB962C8B-B14F-4D97-AF65-F5344CB8AC3E}">
        <p14:creationId xmlns:p14="http://schemas.microsoft.com/office/powerpoint/2010/main" val="2683193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WBS organizes the project into five main phases, breaking down all tasks and responsibilities. Each task has assigned resources, estimated hours, and dependencies to ensure nothing is overlooked. This structured approach allows us to manage time, budget, and quality effectively. It also provides transparency for stakeholders to see how the project will progress.</a:t>
            </a:r>
          </a:p>
        </p:txBody>
      </p:sp>
      <p:sp>
        <p:nvSpPr>
          <p:cNvPr id="4" name="Slide Number Placeholder 3"/>
          <p:cNvSpPr>
            <a:spLocks noGrp="1"/>
          </p:cNvSpPr>
          <p:nvPr>
            <p:ph type="sldNum" sz="quarter" idx="5"/>
          </p:nvPr>
        </p:nvSpPr>
        <p:spPr/>
        <p:txBody>
          <a:bodyPr/>
          <a:lstStyle/>
          <a:p>
            <a:fld id="{E9499B1F-C0C3-4B3A-B413-C9CAD84D58FA}" type="slidenum">
              <a:rPr lang="en-US" smtClean="0"/>
              <a:t>5</a:t>
            </a:fld>
            <a:endParaRPr lang="en-US"/>
          </a:p>
        </p:txBody>
      </p:sp>
    </p:spTree>
    <p:extLst>
      <p:ext uri="{BB962C8B-B14F-4D97-AF65-F5344CB8AC3E}">
        <p14:creationId xmlns:p14="http://schemas.microsoft.com/office/powerpoint/2010/main" val="1642414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planning, we confirmed that the FAQ page will not be included in this version of the website, as it is not essential for the initial launch. To improve functionality, a Bookings page has been added so clients can see available session dates. The gallery integration may still require extra attention to meet design and usability standards. These updates have been documented and approved to ensure stakeholders are aware of scope adjustments.</a:t>
            </a:r>
          </a:p>
        </p:txBody>
      </p:sp>
      <p:sp>
        <p:nvSpPr>
          <p:cNvPr id="4" name="Slide Number Placeholder 3"/>
          <p:cNvSpPr>
            <a:spLocks noGrp="1"/>
          </p:cNvSpPr>
          <p:nvPr>
            <p:ph type="sldNum" sz="quarter" idx="5"/>
          </p:nvPr>
        </p:nvSpPr>
        <p:spPr/>
        <p:txBody>
          <a:bodyPr/>
          <a:lstStyle/>
          <a:p>
            <a:fld id="{E9499B1F-C0C3-4B3A-B413-C9CAD84D58FA}" type="slidenum">
              <a:rPr lang="en-US" smtClean="0"/>
              <a:t>6</a:t>
            </a:fld>
            <a:endParaRPr lang="en-US"/>
          </a:p>
        </p:txBody>
      </p:sp>
    </p:spTree>
    <p:extLst>
      <p:ext uri="{BB962C8B-B14F-4D97-AF65-F5344CB8AC3E}">
        <p14:creationId xmlns:p14="http://schemas.microsoft.com/office/powerpoint/2010/main" val="1345123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budget covers all labor costs across design, development, testing, and management phases. Total hours and costs match our WBS estimates, promoting alignment between scope and financials. No additional contingency funds are required at this stage. This budget provides a clear understanding of resource allocation and financial planning for the project.</a:t>
            </a:r>
          </a:p>
        </p:txBody>
      </p:sp>
      <p:sp>
        <p:nvSpPr>
          <p:cNvPr id="4" name="Slide Number Placeholder 3"/>
          <p:cNvSpPr>
            <a:spLocks noGrp="1"/>
          </p:cNvSpPr>
          <p:nvPr>
            <p:ph type="sldNum" sz="quarter" idx="5"/>
          </p:nvPr>
        </p:nvSpPr>
        <p:spPr/>
        <p:txBody>
          <a:bodyPr/>
          <a:lstStyle/>
          <a:p>
            <a:fld id="{E9499B1F-C0C3-4B3A-B413-C9CAD84D58FA}" type="slidenum">
              <a:rPr lang="en-US" smtClean="0"/>
              <a:t>7</a:t>
            </a:fld>
            <a:endParaRPr lang="en-US"/>
          </a:p>
        </p:txBody>
      </p:sp>
    </p:spTree>
    <p:extLst>
      <p:ext uri="{BB962C8B-B14F-4D97-AF65-F5344CB8AC3E}">
        <p14:creationId xmlns:p14="http://schemas.microsoft.com/office/powerpoint/2010/main" val="351302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forward, development will begin on November 28</a:t>
            </a:r>
            <a:r>
              <a:rPr lang="en-US" baseline="30000" dirty="0"/>
              <a:t>th</a:t>
            </a:r>
            <a:r>
              <a:rPr lang="en-US" dirty="0"/>
              <a:t>, focusing on implementing the homepage, gallery, and other core pages. We will hold weekly milestone reviews to ensure our progress aligns with the schedule. Stakeholders will need to approve all gallery assets to avoid delays. We will also closely monitor the budget and timeline to keep the project on track and within scope.</a:t>
            </a:r>
          </a:p>
        </p:txBody>
      </p:sp>
      <p:sp>
        <p:nvSpPr>
          <p:cNvPr id="4" name="Slide Number Placeholder 3"/>
          <p:cNvSpPr>
            <a:spLocks noGrp="1"/>
          </p:cNvSpPr>
          <p:nvPr>
            <p:ph type="sldNum" sz="quarter" idx="5"/>
          </p:nvPr>
        </p:nvSpPr>
        <p:spPr/>
        <p:txBody>
          <a:bodyPr/>
          <a:lstStyle/>
          <a:p>
            <a:fld id="{E9499B1F-C0C3-4B3A-B413-C9CAD84D58FA}" type="slidenum">
              <a:rPr lang="en-US" smtClean="0"/>
              <a:t>8</a:t>
            </a:fld>
            <a:endParaRPr lang="en-US"/>
          </a:p>
        </p:txBody>
      </p:sp>
    </p:spTree>
    <p:extLst>
      <p:ext uri="{BB962C8B-B14F-4D97-AF65-F5344CB8AC3E}">
        <p14:creationId xmlns:p14="http://schemas.microsoft.com/office/powerpoint/2010/main" val="303789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1">
              <a:rPr lang="en-US" smtClean="0"/>
              <a:t>12/9/2025</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038237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1">
              <a:rPr lang="en-US" smtClean="0"/>
              <a:t>12/9/2025</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738540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1">
              <a:rPr lang="en-US" smtClean="0"/>
              <a:t>12/9/2025</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915111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1">
              <a:rPr lang="en-US" smtClean="0"/>
              <a:t>12/9/2025</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37144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1">
              <a:rPr lang="en-US" smtClean="0"/>
              <a:t>12/9/2025</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74477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1">
              <a:rPr lang="en-US" smtClean="0"/>
              <a:t>12/9/2025</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62408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1">
              <a:rPr lang="en-US" smtClean="0"/>
              <a:t>12/9/2025</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016393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1">
              <a:rPr lang="en-US" smtClean="0"/>
              <a:t>12/9/2025</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825493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378CDE2-0C1B-D3BE-F399-98D983EF4534}"/>
              </a:ext>
            </a:extLst>
          </p:cNvPr>
          <p:cNvSpPr>
            <a:spLocks noGrp="1"/>
          </p:cNvSpPr>
          <p:nvPr>
            <p:ph type="pic" idx="1"/>
          </p:nvPr>
        </p:nvSpPr>
        <p:spPr>
          <a:xfrm>
            <a:off x="5105400" y="838200"/>
            <a:ext cx="624998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1">
              <a:rPr lang="en-US" smtClean="0"/>
              <a:t>12/9/2025</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8520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1">
              <a:rPr lang="en-US" smtClean="0"/>
              <a:t>12/9/2025</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5404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1">
              <a:rPr lang="en-US" smtClean="0"/>
              <a:t>12/9/2025</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051931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1">
              <a:rPr lang="en-US" smtClean="0"/>
              <a:t>12/9/2025</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smtClean="0"/>
              <a:t>‹#›</a:t>
            </a:fld>
            <a:endParaRPr lang="en-US" dirty="0"/>
          </a:p>
        </p:txBody>
      </p:sp>
    </p:spTree>
    <p:extLst>
      <p:ext uri="{BB962C8B-B14F-4D97-AF65-F5344CB8AC3E}">
        <p14:creationId xmlns:p14="http://schemas.microsoft.com/office/powerpoint/2010/main" val="971434956"/>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8B39A7-5BF4-341C-12CB-5518793A2A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nk flowers and leaves on white background">
            <a:extLst>
              <a:ext uri="{FF2B5EF4-FFF2-40B4-BE49-F238E27FC236}">
                <a16:creationId xmlns:a16="http://schemas.microsoft.com/office/drawing/2014/main" id="{B9563FEC-A2B8-6FD6-0F3F-7B9094C336FE}"/>
              </a:ext>
            </a:extLst>
          </p:cNvPr>
          <p:cNvPicPr>
            <a:picLocks noChangeAspect="1"/>
          </p:cNvPicPr>
          <p:nvPr/>
        </p:nvPicPr>
        <p:blipFill>
          <a:blip r:embed="rId3"/>
          <a:srcRect l="14869" r="10147"/>
          <a:stretch>
            <a:fillRect/>
          </a:stretch>
        </p:blipFill>
        <p:spPr>
          <a:xfrm>
            <a:off x="4157001" y="-1"/>
            <a:ext cx="8035000" cy="6858001"/>
          </a:xfrm>
          <a:custGeom>
            <a:avLst/>
            <a:gdLst/>
            <a:ahLst/>
            <a:cxnLst/>
            <a:rect l="l" t="t" r="r" b="b"/>
            <a:pathLst>
              <a:path w="8035000" h="6858001">
                <a:moveTo>
                  <a:pt x="0" y="0"/>
                </a:moveTo>
                <a:lnTo>
                  <a:pt x="8035000" y="0"/>
                </a:lnTo>
                <a:lnTo>
                  <a:pt x="8035000" y="6858001"/>
                </a:lnTo>
                <a:lnTo>
                  <a:pt x="137897" y="6858001"/>
                </a:lnTo>
                <a:lnTo>
                  <a:pt x="274509" y="6844229"/>
                </a:lnTo>
                <a:cubicBezTo>
                  <a:pt x="583423" y="6781017"/>
                  <a:pt x="815799" y="6507690"/>
                  <a:pt x="815799" y="6180089"/>
                </a:cubicBezTo>
                <a:lnTo>
                  <a:pt x="815799" y="677915"/>
                </a:lnTo>
                <a:cubicBezTo>
                  <a:pt x="815799" y="303514"/>
                  <a:pt x="512287" y="2"/>
                  <a:pt x="137886" y="2"/>
                </a:cubicBezTo>
                <a:lnTo>
                  <a:pt x="0" y="2"/>
                </a:lnTo>
                <a:close/>
              </a:path>
            </a:pathLst>
          </a:custGeom>
        </p:spPr>
      </p:pic>
      <p:sp>
        <p:nvSpPr>
          <p:cNvPr id="2" name="Title 1">
            <a:extLst>
              <a:ext uri="{FF2B5EF4-FFF2-40B4-BE49-F238E27FC236}">
                <a16:creationId xmlns:a16="http://schemas.microsoft.com/office/drawing/2014/main" id="{2795DC99-40B2-22C9-64EF-264DD97D4E54}"/>
              </a:ext>
            </a:extLst>
          </p:cNvPr>
          <p:cNvSpPr>
            <a:spLocks noGrp="1"/>
          </p:cNvSpPr>
          <p:nvPr>
            <p:ph type="ctrTitle"/>
          </p:nvPr>
        </p:nvSpPr>
        <p:spPr>
          <a:xfrm>
            <a:off x="312252" y="752136"/>
            <a:ext cx="3944703" cy="3553163"/>
          </a:xfrm>
        </p:spPr>
        <p:txBody>
          <a:bodyPr anchor="t">
            <a:normAutofit/>
          </a:bodyPr>
          <a:lstStyle/>
          <a:p>
            <a:r>
              <a:rPr lang="en-US" sz="4800" dirty="0"/>
              <a:t>Golden Hour Studios Website Project</a:t>
            </a:r>
          </a:p>
        </p:txBody>
      </p:sp>
      <p:sp>
        <p:nvSpPr>
          <p:cNvPr id="3" name="Subtitle 2">
            <a:extLst>
              <a:ext uri="{FF2B5EF4-FFF2-40B4-BE49-F238E27FC236}">
                <a16:creationId xmlns:a16="http://schemas.microsoft.com/office/drawing/2014/main" id="{25DEDF80-CF3B-5CAB-1857-363D428CA7B0}"/>
              </a:ext>
            </a:extLst>
          </p:cNvPr>
          <p:cNvSpPr>
            <a:spLocks noGrp="1"/>
          </p:cNvSpPr>
          <p:nvPr>
            <p:ph type="subTitle" idx="1"/>
          </p:nvPr>
        </p:nvSpPr>
        <p:spPr>
          <a:xfrm>
            <a:off x="312252" y="4762123"/>
            <a:ext cx="3698627" cy="1257678"/>
          </a:xfrm>
        </p:spPr>
        <p:txBody>
          <a:bodyPr anchor="b">
            <a:normAutofit fontScale="92500" lnSpcReduction="20000"/>
          </a:bodyPr>
          <a:lstStyle/>
          <a:p>
            <a:r>
              <a:rPr lang="en-US" dirty="0"/>
              <a:t>Planning Phase Review</a:t>
            </a:r>
          </a:p>
          <a:p>
            <a:r>
              <a:rPr lang="en-US" dirty="0"/>
              <a:t>Project Manager: Aron Alley</a:t>
            </a:r>
          </a:p>
          <a:p>
            <a:r>
              <a:rPr lang="en-US" dirty="0"/>
              <a:t>Date: 12/09/2025</a:t>
            </a:r>
          </a:p>
        </p:txBody>
      </p:sp>
    </p:spTree>
    <p:extLst>
      <p:ext uri="{BB962C8B-B14F-4D97-AF65-F5344CB8AC3E}">
        <p14:creationId xmlns:p14="http://schemas.microsoft.com/office/powerpoint/2010/main" val="354679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08B39A7-5BF4-341C-12CB-5518793A2A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Person watching empty phone">
            <a:extLst>
              <a:ext uri="{FF2B5EF4-FFF2-40B4-BE49-F238E27FC236}">
                <a16:creationId xmlns:a16="http://schemas.microsoft.com/office/drawing/2014/main" id="{114B9F54-AE83-43E4-D94B-965308B643AB}"/>
              </a:ext>
            </a:extLst>
          </p:cNvPr>
          <p:cNvPicPr>
            <a:picLocks noChangeAspect="1"/>
          </p:cNvPicPr>
          <p:nvPr/>
        </p:nvPicPr>
        <p:blipFill>
          <a:blip r:embed="rId3"/>
          <a:srcRect l="10897" r="10896" b="-2"/>
          <a:stretch>
            <a:fillRect/>
          </a:stretch>
        </p:blipFill>
        <p:spPr>
          <a:xfrm>
            <a:off x="4157001" y="-1"/>
            <a:ext cx="8035000" cy="6858001"/>
          </a:xfrm>
          <a:custGeom>
            <a:avLst/>
            <a:gdLst/>
            <a:ahLst/>
            <a:cxnLst/>
            <a:rect l="l" t="t" r="r" b="b"/>
            <a:pathLst>
              <a:path w="8035000" h="6858001">
                <a:moveTo>
                  <a:pt x="0" y="0"/>
                </a:moveTo>
                <a:lnTo>
                  <a:pt x="8035000" y="0"/>
                </a:lnTo>
                <a:lnTo>
                  <a:pt x="8035000" y="6858001"/>
                </a:lnTo>
                <a:lnTo>
                  <a:pt x="137897" y="6858001"/>
                </a:lnTo>
                <a:lnTo>
                  <a:pt x="274509" y="6844229"/>
                </a:lnTo>
                <a:cubicBezTo>
                  <a:pt x="583423" y="6781017"/>
                  <a:pt x="815799" y="6507690"/>
                  <a:pt x="815799" y="6180089"/>
                </a:cubicBezTo>
                <a:lnTo>
                  <a:pt x="815799" y="677915"/>
                </a:lnTo>
                <a:cubicBezTo>
                  <a:pt x="815799" y="303514"/>
                  <a:pt x="512287" y="2"/>
                  <a:pt x="137886" y="2"/>
                </a:cubicBezTo>
                <a:lnTo>
                  <a:pt x="0" y="2"/>
                </a:lnTo>
                <a:close/>
              </a:path>
            </a:pathLst>
          </a:custGeom>
        </p:spPr>
      </p:pic>
      <p:sp>
        <p:nvSpPr>
          <p:cNvPr id="2" name="Title 1">
            <a:extLst>
              <a:ext uri="{FF2B5EF4-FFF2-40B4-BE49-F238E27FC236}">
                <a16:creationId xmlns:a16="http://schemas.microsoft.com/office/drawing/2014/main" id="{34E44E60-7D26-3659-ACEF-4BE4538E8D4A}"/>
              </a:ext>
            </a:extLst>
          </p:cNvPr>
          <p:cNvSpPr>
            <a:spLocks noGrp="1"/>
          </p:cNvSpPr>
          <p:nvPr>
            <p:ph type="title"/>
          </p:nvPr>
        </p:nvSpPr>
        <p:spPr>
          <a:xfrm>
            <a:off x="312252" y="752136"/>
            <a:ext cx="3944703" cy="3553163"/>
          </a:xfrm>
        </p:spPr>
        <p:txBody>
          <a:bodyPr vert="horz" lIns="91440" tIns="45720" rIns="91440" bIns="45720" rtlCol="0" anchor="t">
            <a:normAutofit/>
          </a:bodyPr>
          <a:lstStyle/>
          <a:p>
            <a:r>
              <a:rPr lang="en-US" sz="4800"/>
              <a:t>Project Concept</a:t>
            </a:r>
          </a:p>
        </p:txBody>
      </p:sp>
      <p:sp>
        <p:nvSpPr>
          <p:cNvPr id="3" name="Text Placeholder 2">
            <a:extLst>
              <a:ext uri="{FF2B5EF4-FFF2-40B4-BE49-F238E27FC236}">
                <a16:creationId xmlns:a16="http://schemas.microsoft.com/office/drawing/2014/main" id="{20BE36CE-6063-8947-04BD-AE2C2D1FD3FA}"/>
              </a:ext>
            </a:extLst>
          </p:cNvPr>
          <p:cNvSpPr>
            <a:spLocks noGrp="1"/>
          </p:cNvSpPr>
          <p:nvPr>
            <p:ph type="body" idx="1"/>
          </p:nvPr>
        </p:nvSpPr>
        <p:spPr>
          <a:xfrm>
            <a:off x="312252" y="4219575"/>
            <a:ext cx="3698627" cy="1800226"/>
          </a:xfrm>
        </p:spPr>
        <p:txBody>
          <a:bodyPr vert="horz" lIns="91440" tIns="45720" rIns="91440" bIns="45720" rtlCol="0" anchor="b">
            <a:noAutofit/>
          </a:bodyPr>
          <a:lstStyle/>
          <a:p>
            <a:pPr marL="171450" indent="-171450">
              <a:lnSpc>
                <a:spcPct val="110000"/>
              </a:lnSpc>
              <a:buFont typeface="Wingdings" panose="05000000000000000000" pitchFamily="2" charset="2"/>
              <a:buChar char="Ø"/>
            </a:pPr>
            <a:r>
              <a:rPr lang="en-US" sz="1400" dirty="0">
                <a:solidFill>
                  <a:schemeClr val="tx1"/>
                </a:solidFill>
              </a:rPr>
              <a:t>Build a modern photography website</a:t>
            </a:r>
          </a:p>
          <a:p>
            <a:pPr marL="171450" indent="-171450">
              <a:lnSpc>
                <a:spcPct val="110000"/>
              </a:lnSpc>
              <a:buFont typeface="Wingdings" panose="05000000000000000000" pitchFamily="2" charset="2"/>
              <a:buChar char="Ø"/>
            </a:pPr>
            <a:r>
              <a:rPr lang="en-US" sz="1400" dirty="0">
                <a:solidFill>
                  <a:schemeClr val="tx1"/>
                </a:solidFill>
              </a:rPr>
              <a:t>Highlight gallery &amp; services</a:t>
            </a:r>
          </a:p>
          <a:p>
            <a:pPr marL="171450" indent="-171450">
              <a:lnSpc>
                <a:spcPct val="110000"/>
              </a:lnSpc>
              <a:buFont typeface="Wingdings" panose="05000000000000000000" pitchFamily="2" charset="2"/>
              <a:buChar char="Ø"/>
            </a:pPr>
            <a:r>
              <a:rPr lang="en-US" sz="1400" dirty="0">
                <a:solidFill>
                  <a:schemeClr val="tx1"/>
                </a:solidFill>
              </a:rPr>
              <a:t>Improve user experience</a:t>
            </a:r>
          </a:p>
          <a:p>
            <a:pPr marL="171450" indent="-171450">
              <a:lnSpc>
                <a:spcPct val="110000"/>
              </a:lnSpc>
              <a:buFont typeface="Wingdings" panose="05000000000000000000" pitchFamily="2" charset="2"/>
              <a:buChar char="Ø"/>
            </a:pPr>
            <a:r>
              <a:rPr lang="en-US" sz="1400" dirty="0">
                <a:solidFill>
                  <a:schemeClr val="tx1"/>
                </a:solidFill>
              </a:rPr>
              <a:t>Mobile-friendly and responsive</a:t>
            </a:r>
          </a:p>
          <a:p>
            <a:pPr marL="171450" indent="-171450">
              <a:lnSpc>
                <a:spcPct val="110000"/>
              </a:lnSpc>
              <a:buFont typeface="Wingdings" panose="05000000000000000000" pitchFamily="2" charset="2"/>
              <a:buChar char="Ø"/>
            </a:pPr>
            <a:r>
              <a:rPr lang="en-US" sz="1400" dirty="0">
                <a:solidFill>
                  <a:schemeClr val="tx1"/>
                </a:solidFill>
              </a:rPr>
              <a:t>Showcase packages &amp; pricing</a:t>
            </a:r>
          </a:p>
        </p:txBody>
      </p:sp>
      <p:sp>
        <p:nvSpPr>
          <p:cNvPr id="4" name="Date Placeholder 3">
            <a:extLst>
              <a:ext uri="{FF2B5EF4-FFF2-40B4-BE49-F238E27FC236}">
                <a16:creationId xmlns:a16="http://schemas.microsoft.com/office/drawing/2014/main" id="{4786F959-7B94-B4DA-AA87-131E476FA06A}"/>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a:pPr>
                <a:spcAft>
                  <a:spcPts val="600"/>
                </a:spcAft>
              </a:pPr>
              <a:t>12/9/2025</a:t>
            </a:fld>
            <a:endParaRPr lang="en-US"/>
          </a:p>
        </p:txBody>
      </p:sp>
      <p:sp>
        <p:nvSpPr>
          <p:cNvPr id="5" name="Footer Placeholder 4">
            <a:extLst>
              <a:ext uri="{FF2B5EF4-FFF2-40B4-BE49-F238E27FC236}">
                <a16:creationId xmlns:a16="http://schemas.microsoft.com/office/drawing/2014/main" id="{8ED4F39A-5E61-87EA-A86D-2F31E04A7BB6}"/>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rgbClr val="FFFFFF"/>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EDF6A2CC-4A0B-188D-17A6-0F1BFBC18AAD}"/>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1091218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08B39A7-5BF4-341C-12CB-5518793A2A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Colorful pins connected with a thread">
            <a:extLst>
              <a:ext uri="{FF2B5EF4-FFF2-40B4-BE49-F238E27FC236}">
                <a16:creationId xmlns:a16="http://schemas.microsoft.com/office/drawing/2014/main" id="{FEBB6059-6DED-04DA-FD42-57635ADEC12D}"/>
              </a:ext>
            </a:extLst>
          </p:cNvPr>
          <p:cNvPicPr>
            <a:picLocks noChangeAspect="1"/>
          </p:cNvPicPr>
          <p:nvPr/>
        </p:nvPicPr>
        <p:blipFill>
          <a:blip r:embed="rId3"/>
          <a:srcRect l="2018" r="19775" b="-2"/>
          <a:stretch>
            <a:fillRect/>
          </a:stretch>
        </p:blipFill>
        <p:spPr>
          <a:xfrm>
            <a:off x="4157001" y="-1"/>
            <a:ext cx="8035000" cy="6858001"/>
          </a:xfrm>
          <a:custGeom>
            <a:avLst/>
            <a:gdLst/>
            <a:ahLst/>
            <a:cxnLst/>
            <a:rect l="l" t="t" r="r" b="b"/>
            <a:pathLst>
              <a:path w="8035000" h="6858001">
                <a:moveTo>
                  <a:pt x="0" y="0"/>
                </a:moveTo>
                <a:lnTo>
                  <a:pt x="8035000" y="0"/>
                </a:lnTo>
                <a:lnTo>
                  <a:pt x="8035000" y="6858001"/>
                </a:lnTo>
                <a:lnTo>
                  <a:pt x="137897" y="6858001"/>
                </a:lnTo>
                <a:lnTo>
                  <a:pt x="274509" y="6844229"/>
                </a:lnTo>
                <a:cubicBezTo>
                  <a:pt x="583423" y="6781017"/>
                  <a:pt x="815799" y="6507690"/>
                  <a:pt x="815799" y="6180089"/>
                </a:cubicBezTo>
                <a:lnTo>
                  <a:pt x="815799" y="677915"/>
                </a:lnTo>
                <a:cubicBezTo>
                  <a:pt x="815799" y="303514"/>
                  <a:pt x="512287" y="2"/>
                  <a:pt x="137886" y="2"/>
                </a:cubicBezTo>
                <a:lnTo>
                  <a:pt x="0" y="2"/>
                </a:lnTo>
                <a:close/>
              </a:path>
            </a:pathLst>
          </a:custGeom>
        </p:spPr>
      </p:pic>
      <p:sp>
        <p:nvSpPr>
          <p:cNvPr id="2" name="Title 1">
            <a:extLst>
              <a:ext uri="{FF2B5EF4-FFF2-40B4-BE49-F238E27FC236}">
                <a16:creationId xmlns:a16="http://schemas.microsoft.com/office/drawing/2014/main" id="{B692D78B-7013-0A5A-E9A7-061EF5DDC7D7}"/>
              </a:ext>
            </a:extLst>
          </p:cNvPr>
          <p:cNvSpPr>
            <a:spLocks noGrp="1"/>
          </p:cNvSpPr>
          <p:nvPr>
            <p:ph type="title"/>
          </p:nvPr>
        </p:nvSpPr>
        <p:spPr>
          <a:xfrm>
            <a:off x="312252" y="752136"/>
            <a:ext cx="3944703" cy="3553163"/>
          </a:xfrm>
        </p:spPr>
        <p:txBody>
          <a:bodyPr vert="horz" lIns="91440" tIns="45720" rIns="91440" bIns="45720" rtlCol="0" anchor="t">
            <a:normAutofit/>
          </a:bodyPr>
          <a:lstStyle/>
          <a:p>
            <a:r>
              <a:rPr lang="en-US" sz="4400"/>
              <a:t>Project Stakeholders</a:t>
            </a:r>
          </a:p>
        </p:txBody>
      </p:sp>
      <p:sp>
        <p:nvSpPr>
          <p:cNvPr id="3" name="Text Placeholder 2">
            <a:extLst>
              <a:ext uri="{FF2B5EF4-FFF2-40B4-BE49-F238E27FC236}">
                <a16:creationId xmlns:a16="http://schemas.microsoft.com/office/drawing/2014/main" id="{898F1A2A-6B4A-55CF-A220-F288E86267C4}"/>
              </a:ext>
            </a:extLst>
          </p:cNvPr>
          <p:cNvSpPr>
            <a:spLocks noGrp="1"/>
          </p:cNvSpPr>
          <p:nvPr>
            <p:ph type="body" idx="1"/>
          </p:nvPr>
        </p:nvSpPr>
        <p:spPr>
          <a:xfrm>
            <a:off x="312252" y="2828925"/>
            <a:ext cx="3944703" cy="3190876"/>
          </a:xfrm>
        </p:spPr>
        <p:txBody>
          <a:bodyPr vert="horz" lIns="91440" tIns="45720" rIns="91440" bIns="45720" rtlCol="0" anchor="b">
            <a:normAutofit fontScale="85000" lnSpcReduction="10000"/>
          </a:bodyPr>
          <a:lstStyle/>
          <a:p>
            <a:endParaRPr lang="en-US" dirty="0">
              <a:solidFill>
                <a:schemeClr val="tx1"/>
              </a:solidFill>
            </a:endParaRPr>
          </a:p>
          <a:p>
            <a:pPr marL="342900" indent="-342900">
              <a:buFont typeface="Courier New" panose="02070309020205020404" pitchFamily="49" charset="0"/>
              <a:buChar char="o"/>
            </a:pPr>
            <a:r>
              <a:rPr lang="en-US" dirty="0">
                <a:solidFill>
                  <a:schemeClr val="tx1"/>
                </a:solidFill>
              </a:rPr>
              <a:t>Project Manager: Aron Alley</a:t>
            </a:r>
          </a:p>
          <a:p>
            <a:pPr marL="342900" indent="-342900">
              <a:buFont typeface="Courier New" panose="02070309020205020404" pitchFamily="49" charset="0"/>
              <a:buChar char="o"/>
            </a:pPr>
            <a:r>
              <a:rPr lang="en-US" dirty="0">
                <a:solidFill>
                  <a:schemeClr val="tx1"/>
                </a:solidFill>
              </a:rPr>
              <a:t>Business Analyst: Jordan Reed</a:t>
            </a:r>
          </a:p>
          <a:p>
            <a:pPr marL="342900" indent="-342900">
              <a:buFont typeface="Courier New" panose="02070309020205020404" pitchFamily="49" charset="0"/>
              <a:buChar char="o"/>
            </a:pPr>
            <a:r>
              <a:rPr lang="en-US" dirty="0">
                <a:solidFill>
                  <a:schemeClr val="tx1"/>
                </a:solidFill>
              </a:rPr>
              <a:t>UI/UX Designers: Riley Bennett, Taylor Morgan</a:t>
            </a:r>
          </a:p>
          <a:p>
            <a:pPr marL="342900" indent="-342900">
              <a:buFont typeface="Courier New" panose="02070309020205020404" pitchFamily="49" charset="0"/>
              <a:buChar char="o"/>
            </a:pPr>
            <a:r>
              <a:rPr lang="en-US" dirty="0">
                <a:solidFill>
                  <a:schemeClr val="tx1"/>
                </a:solidFill>
              </a:rPr>
              <a:t>Web Developer: Cameron Diaz </a:t>
            </a:r>
          </a:p>
          <a:p>
            <a:pPr marL="342900" indent="-342900">
              <a:buFont typeface="Courier New" panose="02070309020205020404" pitchFamily="49" charset="0"/>
              <a:buChar char="o"/>
            </a:pPr>
            <a:r>
              <a:rPr lang="en-US" dirty="0">
                <a:solidFill>
                  <a:schemeClr val="tx1"/>
                </a:solidFill>
              </a:rPr>
              <a:t>QA Team: Avery Kim</a:t>
            </a:r>
          </a:p>
          <a:p>
            <a:endParaRPr lang="en-US" dirty="0">
              <a:solidFill>
                <a:schemeClr val="tx1"/>
              </a:solidFill>
            </a:endParaRPr>
          </a:p>
        </p:txBody>
      </p:sp>
      <p:sp>
        <p:nvSpPr>
          <p:cNvPr id="4" name="Date Placeholder 3">
            <a:extLst>
              <a:ext uri="{FF2B5EF4-FFF2-40B4-BE49-F238E27FC236}">
                <a16:creationId xmlns:a16="http://schemas.microsoft.com/office/drawing/2014/main" id="{9AE3EABF-E186-B3BB-253E-2A53336F04D2}"/>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a:pPr>
                <a:spcAft>
                  <a:spcPts val="600"/>
                </a:spcAft>
              </a:pPr>
              <a:t>12/9/2025</a:t>
            </a:fld>
            <a:endParaRPr lang="en-US"/>
          </a:p>
        </p:txBody>
      </p:sp>
      <p:sp>
        <p:nvSpPr>
          <p:cNvPr id="5" name="Footer Placeholder 4">
            <a:extLst>
              <a:ext uri="{FF2B5EF4-FFF2-40B4-BE49-F238E27FC236}">
                <a16:creationId xmlns:a16="http://schemas.microsoft.com/office/drawing/2014/main" id="{E15DB79C-C232-17F0-08A8-E727977743A3}"/>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rgbClr val="FFFFFF"/>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5DF66229-9558-AFB2-7001-347A4EE44938}"/>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solidFill>
                  <a:srgbClr val="FFFFFF"/>
                </a:solidFill>
              </a:rPr>
              <a:pPr>
                <a:spcAft>
                  <a:spcPts val="600"/>
                </a:spcAft>
              </a:pPr>
              <a:t>3</a:t>
            </a:fld>
            <a:endParaRPr lang="en-US">
              <a:solidFill>
                <a:srgbClr val="FFFFFF"/>
              </a:solidFill>
            </a:endParaRPr>
          </a:p>
        </p:txBody>
      </p:sp>
    </p:spTree>
    <p:extLst>
      <p:ext uri="{BB962C8B-B14F-4D97-AF65-F5344CB8AC3E}">
        <p14:creationId xmlns:p14="http://schemas.microsoft.com/office/powerpoint/2010/main" val="408425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905FB9D-6ED8-2118-A8CC-0A3F65765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Binoculars looking out on island lighthouse">
            <a:extLst>
              <a:ext uri="{FF2B5EF4-FFF2-40B4-BE49-F238E27FC236}">
                <a16:creationId xmlns:a16="http://schemas.microsoft.com/office/drawing/2014/main" id="{25B13907-2AD5-6FD4-F0DA-F4D8C80D3910}"/>
              </a:ext>
            </a:extLst>
          </p:cNvPr>
          <p:cNvPicPr>
            <a:picLocks noChangeAspect="1"/>
          </p:cNvPicPr>
          <p:nvPr/>
        </p:nvPicPr>
        <p:blipFill>
          <a:blip r:embed="rId3"/>
          <a:srcRect t="15730"/>
          <a:stretch>
            <a:fillRect/>
          </a:stretch>
        </p:blipFill>
        <p:spPr>
          <a:xfrm>
            <a:off x="20" y="-1"/>
            <a:ext cx="12191981" cy="6858001"/>
          </a:xfrm>
          <a:prstGeom prst="rect">
            <a:avLst/>
          </a:prstGeom>
        </p:spPr>
      </p:pic>
      <p:sp>
        <p:nvSpPr>
          <p:cNvPr id="23" name="Freeform: Shape 22">
            <a:extLst>
              <a:ext uri="{FF2B5EF4-FFF2-40B4-BE49-F238E27FC236}">
                <a16:creationId xmlns:a16="http://schemas.microsoft.com/office/drawing/2014/main" id="{78186003-468A-23AA-0BF4-10ABE1EC6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76700" cy="6858000"/>
          </a:xfrm>
          <a:custGeom>
            <a:avLst/>
            <a:gdLst>
              <a:gd name="connsiteX0" fmla="*/ 0 w 4076700"/>
              <a:gd name="connsiteY0" fmla="*/ 0 h 6858000"/>
              <a:gd name="connsiteX1" fmla="*/ 3398787 w 4076700"/>
              <a:gd name="connsiteY1" fmla="*/ 0 h 6858000"/>
              <a:gd name="connsiteX2" fmla="*/ 4076700 w 4076700"/>
              <a:gd name="connsiteY2" fmla="*/ 677913 h 6858000"/>
              <a:gd name="connsiteX3" fmla="*/ 4076700 w 4076700"/>
              <a:gd name="connsiteY3" fmla="*/ 6180087 h 6858000"/>
              <a:gd name="connsiteX4" fmla="*/ 3398787 w 4076700"/>
              <a:gd name="connsiteY4" fmla="*/ 6858000 h 6858000"/>
              <a:gd name="connsiteX5" fmla="*/ 0 w 40767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700" h="6858000">
                <a:moveTo>
                  <a:pt x="0" y="0"/>
                </a:moveTo>
                <a:lnTo>
                  <a:pt x="3398787" y="0"/>
                </a:lnTo>
                <a:cubicBezTo>
                  <a:pt x="3773188" y="0"/>
                  <a:pt x="4076700" y="303512"/>
                  <a:pt x="4076700" y="677913"/>
                </a:cubicBezTo>
                <a:lnTo>
                  <a:pt x="4076700" y="6180087"/>
                </a:lnTo>
                <a:cubicBezTo>
                  <a:pt x="4076700" y="6554488"/>
                  <a:pt x="3773188" y="6858000"/>
                  <a:pt x="3398787" y="6858000"/>
                </a:cubicBezTo>
                <a:lnTo>
                  <a:pt x="0" y="6858000"/>
                </a:ln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1C28D02-F97F-6C6E-4DE2-97F8B80F1346}"/>
              </a:ext>
            </a:extLst>
          </p:cNvPr>
          <p:cNvSpPr>
            <a:spLocks noGrp="1"/>
          </p:cNvSpPr>
          <p:nvPr>
            <p:ph type="title"/>
          </p:nvPr>
        </p:nvSpPr>
        <p:spPr>
          <a:xfrm>
            <a:off x="330419" y="1237129"/>
            <a:ext cx="3406998" cy="1106021"/>
          </a:xfrm>
        </p:spPr>
        <p:txBody>
          <a:bodyPr vert="horz" lIns="91440" tIns="45720" rIns="91440" bIns="45720" rtlCol="0" anchor="t">
            <a:normAutofit fontScale="90000"/>
          </a:bodyPr>
          <a:lstStyle/>
          <a:p>
            <a:r>
              <a:rPr lang="en-US" sz="3700" dirty="0"/>
              <a:t>Scope &amp; Requirements</a:t>
            </a:r>
          </a:p>
        </p:txBody>
      </p:sp>
      <p:sp>
        <p:nvSpPr>
          <p:cNvPr id="3" name="Text Placeholder 2">
            <a:extLst>
              <a:ext uri="{FF2B5EF4-FFF2-40B4-BE49-F238E27FC236}">
                <a16:creationId xmlns:a16="http://schemas.microsoft.com/office/drawing/2014/main" id="{6E7EA890-B31F-4553-3623-56CD4A44F840}"/>
              </a:ext>
            </a:extLst>
          </p:cNvPr>
          <p:cNvSpPr>
            <a:spLocks noGrp="1"/>
          </p:cNvSpPr>
          <p:nvPr>
            <p:ph type="body" idx="1"/>
          </p:nvPr>
        </p:nvSpPr>
        <p:spPr>
          <a:xfrm>
            <a:off x="337082" y="2619375"/>
            <a:ext cx="3291841" cy="3400425"/>
          </a:xfrm>
        </p:spPr>
        <p:txBody>
          <a:bodyPr vert="horz" lIns="91440" tIns="45720" rIns="91440" bIns="45720" rtlCol="0" anchor="b">
            <a:normAutofit lnSpcReduction="10000"/>
          </a:bodyPr>
          <a:lstStyle/>
          <a:p>
            <a:pPr marL="285750" indent="-285750">
              <a:buFont typeface="Wingdings" panose="05000000000000000000" pitchFamily="2" charset="2"/>
              <a:buChar char="ü"/>
            </a:pPr>
            <a:r>
              <a:rPr lang="en-US" sz="1800" dirty="0">
                <a:solidFill>
                  <a:schemeClr val="tx1"/>
                </a:solidFill>
              </a:rPr>
              <a:t>Home, Gallery, Contact Pages</a:t>
            </a:r>
          </a:p>
          <a:p>
            <a:pPr marL="285750" indent="-285750">
              <a:buFont typeface="Wingdings" panose="05000000000000000000" pitchFamily="2" charset="2"/>
              <a:buChar char="ü"/>
            </a:pPr>
            <a:r>
              <a:rPr lang="en-US" sz="1800" dirty="0">
                <a:solidFill>
                  <a:schemeClr val="tx1"/>
                </a:solidFill>
              </a:rPr>
              <a:t>Visual branding and style guide</a:t>
            </a:r>
          </a:p>
          <a:p>
            <a:pPr marL="285750" indent="-285750">
              <a:buFont typeface="Wingdings" panose="05000000000000000000" pitchFamily="2" charset="2"/>
              <a:buChar char="ü"/>
            </a:pPr>
            <a:r>
              <a:rPr lang="en-US" sz="1800" dirty="0">
                <a:solidFill>
                  <a:schemeClr val="tx1"/>
                </a:solidFill>
              </a:rPr>
              <a:t>Functional forms &amp; galleries</a:t>
            </a:r>
          </a:p>
          <a:p>
            <a:pPr marL="285750" indent="-285750">
              <a:buFont typeface="Wingdings" panose="05000000000000000000" pitchFamily="2" charset="2"/>
              <a:buChar char="ü"/>
            </a:pPr>
            <a:r>
              <a:rPr lang="en-US" sz="1800" dirty="0">
                <a:solidFill>
                  <a:schemeClr val="tx1"/>
                </a:solidFill>
              </a:rPr>
              <a:t>Integrate sample photos</a:t>
            </a:r>
          </a:p>
          <a:p>
            <a:pPr marL="285750" indent="-285750">
              <a:buFont typeface="Wingdings" panose="05000000000000000000" pitchFamily="2" charset="2"/>
              <a:buChar char="ü"/>
            </a:pPr>
            <a:r>
              <a:rPr lang="en-US" sz="1800" dirty="0">
                <a:solidFill>
                  <a:schemeClr val="tx1"/>
                </a:solidFill>
              </a:rPr>
              <a:t>Define user experience flow</a:t>
            </a:r>
          </a:p>
        </p:txBody>
      </p:sp>
      <p:sp>
        <p:nvSpPr>
          <p:cNvPr id="4" name="Date Placeholder 3">
            <a:extLst>
              <a:ext uri="{FF2B5EF4-FFF2-40B4-BE49-F238E27FC236}">
                <a16:creationId xmlns:a16="http://schemas.microsoft.com/office/drawing/2014/main" id="{2ADFA5E6-ED6E-0AAD-9694-0B4C63C07E79}"/>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smtClean="0"/>
              <a:pPr>
                <a:spcAft>
                  <a:spcPts val="600"/>
                </a:spcAft>
              </a:pPr>
              <a:t>12/9/2025</a:t>
            </a:fld>
            <a:endParaRPr lang="en-US"/>
          </a:p>
        </p:txBody>
      </p:sp>
      <p:sp>
        <p:nvSpPr>
          <p:cNvPr id="5" name="Footer Placeholder 4">
            <a:extLst>
              <a:ext uri="{FF2B5EF4-FFF2-40B4-BE49-F238E27FC236}">
                <a16:creationId xmlns:a16="http://schemas.microsoft.com/office/drawing/2014/main" id="{620949B6-DD81-B00D-EC8F-D60E4D5445BD}"/>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rgbClr val="FFFFFF"/>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816967BE-C77C-A473-C798-B7E161F23BB3}"/>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1424572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4C09967-1A44-C2F5-2069-E85F0F6CD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2EBF3-CBC8-4E30-BA6E-629656818F77}"/>
              </a:ext>
            </a:extLst>
          </p:cNvPr>
          <p:cNvSpPr>
            <a:spLocks noGrp="1"/>
          </p:cNvSpPr>
          <p:nvPr>
            <p:ph type="title"/>
          </p:nvPr>
        </p:nvSpPr>
        <p:spPr>
          <a:xfrm>
            <a:off x="340137" y="306646"/>
            <a:ext cx="7209421" cy="2069592"/>
          </a:xfrm>
        </p:spPr>
        <p:txBody>
          <a:bodyPr vert="horz" lIns="91440" tIns="45720" rIns="91440" bIns="45720" rtlCol="0" anchor="t">
            <a:normAutofit/>
          </a:bodyPr>
          <a:lstStyle/>
          <a:p>
            <a:r>
              <a:rPr lang="en-US" sz="5400" dirty="0"/>
              <a:t>Work Breakdown Structure</a:t>
            </a:r>
          </a:p>
        </p:txBody>
      </p:sp>
      <p:sp>
        <p:nvSpPr>
          <p:cNvPr id="3" name="Text Placeholder 2">
            <a:extLst>
              <a:ext uri="{FF2B5EF4-FFF2-40B4-BE49-F238E27FC236}">
                <a16:creationId xmlns:a16="http://schemas.microsoft.com/office/drawing/2014/main" id="{E0492235-4EF6-D947-F53A-6ECCABD88A62}"/>
              </a:ext>
            </a:extLst>
          </p:cNvPr>
          <p:cNvSpPr>
            <a:spLocks noGrp="1"/>
          </p:cNvSpPr>
          <p:nvPr>
            <p:ph type="body" idx="1"/>
          </p:nvPr>
        </p:nvSpPr>
        <p:spPr>
          <a:xfrm>
            <a:off x="8115299" y="5583382"/>
            <a:ext cx="3176155" cy="711671"/>
          </a:xfrm>
        </p:spPr>
        <p:txBody>
          <a:bodyPr vert="horz" lIns="91440" tIns="45720" rIns="91440" bIns="45720" rtlCol="0" anchor="t">
            <a:normAutofit/>
          </a:bodyPr>
          <a:lstStyle/>
          <a:p>
            <a:pPr>
              <a:lnSpc>
                <a:spcPct val="110000"/>
              </a:lnSpc>
            </a:pPr>
            <a:r>
              <a:rPr lang="en-US" sz="1900">
                <a:solidFill>
                  <a:schemeClr val="tx1"/>
                </a:solidFill>
              </a:rPr>
              <a:t>Work Breakdown Structure</a:t>
            </a:r>
          </a:p>
        </p:txBody>
      </p:sp>
      <p:sp>
        <p:nvSpPr>
          <p:cNvPr id="4" name="Date Placeholder 3">
            <a:extLst>
              <a:ext uri="{FF2B5EF4-FFF2-40B4-BE49-F238E27FC236}">
                <a16:creationId xmlns:a16="http://schemas.microsoft.com/office/drawing/2014/main" id="{5E71A41B-1AF9-9D65-4419-7321162BF2CE}"/>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smtClean="0"/>
              <a:pPr>
                <a:spcAft>
                  <a:spcPts val="600"/>
                </a:spcAft>
              </a:pPr>
              <a:t>12/9/2025</a:t>
            </a:fld>
            <a:endParaRPr lang="en-US"/>
          </a:p>
        </p:txBody>
      </p:sp>
      <p:sp>
        <p:nvSpPr>
          <p:cNvPr id="15" name="Freeform: Shape 14">
            <a:extLst>
              <a:ext uri="{FF2B5EF4-FFF2-40B4-BE49-F238E27FC236}">
                <a16:creationId xmlns:a16="http://schemas.microsoft.com/office/drawing/2014/main" id="{F086861A-B8DA-EF8C-5F6B-73F555A3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301" y="3089565"/>
            <a:ext cx="3176155" cy="2277650"/>
          </a:xfrm>
          <a:custGeom>
            <a:avLst/>
            <a:gdLst>
              <a:gd name="connsiteX0" fmla="*/ 447695 w 3176155"/>
              <a:gd name="connsiteY0" fmla="*/ 0 h 2277650"/>
              <a:gd name="connsiteX1" fmla="*/ 2728460 w 3176155"/>
              <a:gd name="connsiteY1" fmla="*/ 0 h 2277650"/>
              <a:gd name="connsiteX2" fmla="*/ 3176155 w 3176155"/>
              <a:gd name="connsiteY2" fmla="*/ 447695 h 2277650"/>
              <a:gd name="connsiteX3" fmla="*/ 3176155 w 3176155"/>
              <a:gd name="connsiteY3" fmla="*/ 1829955 h 2277650"/>
              <a:gd name="connsiteX4" fmla="*/ 2728460 w 3176155"/>
              <a:gd name="connsiteY4" fmla="*/ 2277650 h 2277650"/>
              <a:gd name="connsiteX5" fmla="*/ 447695 w 3176155"/>
              <a:gd name="connsiteY5" fmla="*/ 2277650 h 2277650"/>
              <a:gd name="connsiteX6" fmla="*/ 0 w 3176155"/>
              <a:gd name="connsiteY6" fmla="*/ 1829955 h 2277650"/>
              <a:gd name="connsiteX7" fmla="*/ 0 w 3176155"/>
              <a:gd name="connsiteY7" fmla="*/ 447695 h 2277650"/>
              <a:gd name="connsiteX8" fmla="*/ 447695 w 3176155"/>
              <a:gd name="connsiteY8" fmla="*/ 0 h 227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6155" h="2277650">
                <a:moveTo>
                  <a:pt x="447695" y="0"/>
                </a:moveTo>
                <a:lnTo>
                  <a:pt x="2728460" y="0"/>
                </a:lnTo>
                <a:cubicBezTo>
                  <a:pt x="2975715" y="0"/>
                  <a:pt x="3176155" y="200440"/>
                  <a:pt x="3176155" y="447695"/>
                </a:cubicBezTo>
                <a:lnTo>
                  <a:pt x="3176155" y="1829955"/>
                </a:lnTo>
                <a:cubicBezTo>
                  <a:pt x="3176155" y="2077210"/>
                  <a:pt x="2975715" y="2277650"/>
                  <a:pt x="2728460" y="2277650"/>
                </a:cubicBezTo>
                <a:lnTo>
                  <a:pt x="447695" y="2277650"/>
                </a:lnTo>
                <a:cubicBezTo>
                  <a:pt x="200440" y="2277650"/>
                  <a:pt x="0" y="2077210"/>
                  <a:pt x="0" y="1829955"/>
                </a:cubicBezTo>
                <a:lnTo>
                  <a:pt x="0" y="447695"/>
                </a:lnTo>
                <a:cubicBezTo>
                  <a:pt x="0" y="200440"/>
                  <a:pt x="200440" y="0"/>
                  <a:pt x="447695"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Hierarchy">
            <a:extLst>
              <a:ext uri="{FF2B5EF4-FFF2-40B4-BE49-F238E27FC236}">
                <a16:creationId xmlns:a16="http://schemas.microsoft.com/office/drawing/2014/main" id="{D3BA6155-BCAD-01EB-FF65-BF067DE92B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32142" y="3429000"/>
            <a:ext cx="1579282" cy="1579282"/>
          </a:xfrm>
          <a:prstGeom prst="rect">
            <a:avLst/>
          </a:prstGeom>
        </p:spPr>
      </p:pic>
      <p:sp>
        <p:nvSpPr>
          <p:cNvPr id="5" name="Footer Placeholder 4">
            <a:extLst>
              <a:ext uri="{FF2B5EF4-FFF2-40B4-BE49-F238E27FC236}">
                <a16:creationId xmlns:a16="http://schemas.microsoft.com/office/drawing/2014/main" id="{B97F2F36-F366-0386-10F4-F90A0CFE6D3F}"/>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chemeClr val="tx1"/>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450ED239-8414-6962-CD4E-A4F1995194F7}"/>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smtClean="0"/>
              <a:pPr>
                <a:spcAft>
                  <a:spcPts val="600"/>
                </a:spcAft>
              </a:pPr>
              <a:t>5</a:t>
            </a:fld>
            <a:endParaRPr lang="en-US"/>
          </a:p>
        </p:txBody>
      </p:sp>
      <p:sp>
        <p:nvSpPr>
          <p:cNvPr id="7" name="Title 1">
            <a:extLst>
              <a:ext uri="{FF2B5EF4-FFF2-40B4-BE49-F238E27FC236}">
                <a16:creationId xmlns:a16="http://schemas.microsoft.com/office/drawing/2014/main" id="{5F35BF81-84A9-7836-D18D-FC47A79DFA61}"/>
              </a:ext>
            </a:extLst>
          </p:cNvPr>
          <p:cNvSpPr txBox="1">
            <a:spLocks/>
          </p:cNvSpPr>
          <p:nvPr/>
        </p:nvSpPr>
        <p:spPr>
          <a:xfrm>
            <a:off x="340137" y="2682883"/>
            <a:ext cx="7209421" cy="278426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600" b="1" kern="1200">
                <a:solidFill>
                  <a:schemeClr val="tx1"/>
                </a:solidFill>
                <a:latin typeface="+mj-lt"/>
                <a:ea typeface="+mj-ea"/>
                <a:cs typeface="+mj-cs"/>
              </a:defRPr>
            </a:lvl1pPr>
          </a:lstStyle>
          <a:p>
            <a:pPr marL="285750" indent="-285750">
              <a:buFont typeface="Wingdings" panose="05000000000000000000" pitchFamily="2" charset="2"/>
              <a:buChar char="v"/>
            </a:pPr>
            <a:r>
              <a:rPr lang="en-US" sz="1600" b="0" dirty="0"/>
              <a:t>Requirements Analysis</a:t>
            </a:r>
          </a:p>
          <a:p>
            <a:endParaRPr lang="en-US" sz="1600" b="0" dirty="0"/>
          </a:p>
          <a:p>
            <a:pPr marL="285750" indent="-285750">
              <a:buFont typeface="Wingdings" panose="05000000000000000000" pitchFamily="2" charset="2"/>
              <a:buChar char="v"/>
            </a:pPr>
            <a:r>
              <a:rPr lang="en-US" sz="1600" b="0" dirty="0"/>
              <a:t>Wireframes &amp; UI Designs</a:t>
            </a:r>
          </a:p>
          <a:p>
            <a:endParaRPr lang="en-US" sz="1600" b="0" dirty="0"/>
          </a:p>
          <a:p>
            <a:pPr marL="285750" indent="-285750">
              <a:buFont typeface="Wingdings" panose="05000000000000000000" pitchFamily="2" charset="2"/>
              <a:buChar char="v"/>
            </a:pPr>
            <a:r>
              <a:rPr lang="en-US" sz="1600" b="0" dirty="0"/>
              <a:t>UI Development</a:t>
            </a:r>
          </a:p>
          <a:p>
            <a:endParaRPr lang="en-US" sz="1600" b="0" dirty="0"/>
          </a:p>
          <a:p>
            <a:pPr marL="285750" indent="-285750">
              <a:buFont typeface="Wingdings" panose="05000000000000000000" pitchFamily="2" charset="2"/>
              <a:buChar char="v"/>
            </a:pPr>
            <a:r>
              <a:rPr lang="en-US" sz="1600" b="0" dirty="0"/>
              <a:t>Testing &amp; Deployment</a:t>
            </a:r>
          </a:p>
          <a:p>
            <a:endParaRPr lang="en-US" sz="1600" b="0" dirty="0"/>
          </a:p>
          <a:p>
            <a:pPr marL="285750" indent="-285750">
              <a:buFont typeface="Wingdings" panose="05000000000000000000" pitchFamily="2" charset="2"/>
              <a:buChar char="v"/>
            </a:pPr>
            <a:r>
              <a:rPr lang="en-US" sz="1600" b="0" dirty="0"/>
              <a:t>Project Management</a:t>
            </a:r>
          </a:p>
        </p:txBody>
      </p:sp>
    </p:spTree>
    <p:extLst>
      <p:ext uri="{BB962C8B-B14F-4D97-AF65-F5344CB8AC3E}">
        <p14:creationId xmlns:p14="http://schemas.microsoft.com/office/powerpoint/2010/main" val="893591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4C09967-1A44-C2F5-2069-E85F0F6CD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D4B2FA-B923-7129-22F1-0D90F9A10EFE}"/>
              </a:ext>
            </a:extLst>
          </p:cNvPr>
          <p:cNvSpPr>
            <a:spLocks noGrp="1"/>
          </p:cNvSpPr>
          <p:nvPr>
            <p:ph type="title"/>
          </p:nvPr>
        </p:nvSpPr>
        <p:spPr>
          <a:xfrm>
            <a:off x="311052" y="749809"/>
            <a:ext cx="7209421" cy="2069592"/>
          </a:xfrm>
        </p:spPr>
        <p:txBody>
          <a:bodyPr vert="horz" lIns="91440" tIns="45720" rIns="91440" bIns="45720" rtlCol="0" anchor="t">
            <a:normAutofit/>
          </a:bodyPr>
          <a:lstStyle/>
          <a:p>
            <a:r>
              <a:rPr lang="en-US" sz="5400" dirty="0"/>
              <a:t>Key Findings &amp; Challenges</a:t>
            </a:r>
          </a:p>
        </p:txBody>
      </p:sp>
      <p:sp>
        <p:nvSpPr>
          <p:cNvPr id="3" name="Text Placeholder 2">
            <a:extLst>
              <a:ext uri="{FF2B5EF4-FFF2-40B4-BE49-F238E27FC236}">
                <a16:creationId xmlns:a16="http://schemas.microsoft.com/office/drawing/2014/main" id="{B0E3CD77-06D9-87CE-262D-F62209CB3062}"/>
              </a:ext>
            </a:extLst>
          </p:cNvPr>
          <p:cNvSpPr>
            <a:spLocks noGrp="1"/>
          </p:cNvSpPr>
          <p:nvPr>
            <p:ph type="body" idx="1"/>
          </p:nvPr>
        </p:nvSpPr>
        <p:spPr>
          <a:xfrm>
            <a:off x="311052" y="2656835"/>
            <a:ext cx="3176155" cy="3551460"/>
          </a:xfrm>
        </p:spPr>
        <p:txBody>
          <a:bodyPr vert="horz" lIns="91440" tIns="45720" rIns="91440" bIns="45720" rtlCol="0" anchor="t">
            <a:noAutofit/>
          </a:bodyPr>
          <a:lstStyle/>
          <a:p>
            <a:pPr marL="457200" indent="-457200">
              <a:buAutoNum type="arabicPeriod"/>
            </a:pPr>
            <a:r>
              <a:rPr lang="en-US" sz="1600" dirty="0">
                <a:solidFill>
                  <a:schemeClr val="tx1"/>
                </a:solidFill>
              </a:rPr>
              <a:t>Stakeholder alignment achieved</a:t>
            </a:r>
          </a:p>
          <a:p>
            <a:pPr marL="457200" indent="-457200">
              <a:buAutoNum type="arabicPeriod"/>
            </a:pPr>
            <a:r>
              <a:rPr lang="en-US" sz="1600" dirty="0">
                <a:solidFill>
                  <a:schemeClr val="tx1"/>
                </a:solidFill>
              </a:rPr>
              <a:t>Visuals &amp; branding clarified</a:t>
            </a:r>
          </a:p>
          <a:p>
            <a:pPr marL="457200" indent="-457200">
              <a:buAutoNum type="arabicPeriod"/>
            </a:pPr>
            <a:r>
              <a:rPr lang="en-US" sz="1600" dirty="0">
                <a:solidFill>
                  <a:schemeClr val="tx1"/>
                </a:solidFill>
              </a:rPr>
              <a:t>Complex gallery integration</a:t>
            </a:r>
          </a:p>
          <a:p>
            <a:pPr marL="457200" indent="-457200">
              <a:buAutoNum type="arabicPeriod"/>
            </a:pPr>
            <a:r>
              <a:rPr lang="en-US" sz="1600" dirty="0">
                <a:solidFill>
                  <a:schemeClr val="tx1"/>
                </a:solidFill>
              </a:rPr>
              <a:t>FAQ page omitted</a:t>
            </a:r>
          </a:p>
          <a:p>
            <a:pPr marL="457200" indent="-457200">
              <a:buAutoNum type="arabicPeriod"/>
            </a:pPr>
            <a:r>
              <a:rPr lang="en-US" sz="1600" dirty="0">
                <a:solidFill>
                  <a:schemeClr val="tx1"/>
                </a:solidFill>
              </a:rPr>
              <a:t>Bookings page added</a:t>
            </a:r>
          </a:p>
        </p:txBody>
      </p:sp>
      <p:sp>
        <p:nvSpPr>
          <p:cNvPr id="4" name="Date Placeholder 3">
            <a:extLst>
              <a:ext uri="{FF2B5EF4-FFF2-40B4-BE49-F238E27FC236}">
                <a16:creationId xmlns:a16="http://schemas.microsoft.com/office/drawing/2014/main" id="{8F89E235-A62A-C0DE-BCE6-753381889C62}"/>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smtClean="0"/>
              <a:pPr>
                <a:spcAft>
                  <a:spcPts val="600"/>
                </a:spcAft>
              </a:pPr>
              <a:t>12/9/2025</a:t>
            </a:fld>
            <a:endParaRPr lang="en-US"/>
          </a:p>
        </p:txBody>
      </p:sp>
      <p:sp>
        <p:nvSpPr>
          <p:cNvPr id="15" name="Freeform: Shape 14">
            <a:extLst>
              <a:ext uri="{FF2B5EF4-FFF2-40B4-BE49-F238E27FC236}">
                <a16:creationId xmlns:a16="http://schemas.microsoft.com/office/drawing/2014/main" id="{F086861A-B8DA-EF8C-5F6B-73F555A3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301" y="3089565"/>
            <a:ext cx="3176155" cy="2277650"/>
          </a:xfrm>
          <a:custGeom>
            <a:avLst/>
            <a:gdLst>
              <a:gd name="connsiteX0" fmla="*/ 447695 w 3176155"/>
              <a:gd name="connsiteY0" fmla="*/ 0 h 2277650"/>
              <a:gd name="connsiteX1" fmla="*/ 2728460 w 3176155"/>
              <a:gd name="connsiteY1" fmla="*/ 0 h 2277650"/>
              <a:gd name="connsiteX2" fmla="*/ 3176155 w 3176155"/>
              <a:gd name="connsiteY2" fmla="*/ 447695 h 2277650"/>
              <a:gd name="connsiteX3" fmla="*/ 3176155 w 3176155"/>
              <a:gd name="connsiteY3" fmla="*/ 1829955 h 2277650"/>
              <a:gd name="connsiteX4" fmla="*/ 2728460 w 3176155"/>
              <a:gd name="connsiteY4" fmla="*/ 2277650 h 2277650"/>
              <a:gd name="connsiteX5" fmla="*/ 447695 w 3176155"/>
              <a:gd name="connsiteY5" fmla="*/ 2277650 h 2277650"/>
              <a:gd name="connsiteX6" fmla="*/ 0 w 3176155"/>
              <a:gd name="connsiteY6" fmla="*/ 1829955 h 2277650"/>
              <a:gd name="connsiteX7" fmla="*/ 0 w 3176155"/>
              <a:gd name="connsiteY7" fmla="*/ 447695 h 2277650"/>
              <a:gd name="connsiteX8" fmla="*/ 447695 w 3176155"/>
              <a:gd name="connsiteY8" fmla="*/ 0 h 227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6155" h="2277650">
                <a:moveTo>
                  <a:pt x="447695" y="0"/>
                </a:moveTo>
                <a:lnTo>
                  <a:pt x="2728460" y="0"/>
                </a:lnTo>
                <a:cubicBezTo>
                  <a:pt x="2975715" y="0"/>
                  <a:pt x="3176155" y="200440"/>
                  <a:pt x="3176155" y="447695"/>
                </a:cubicBezTo>
                <a:lnTo>
                  <a:pt x="3176155" y="1829955"/>
                </a:lnTo>
                <a:cubicBezTo>
                  <a:pt x="3176155" y="2077210"/>
                  <a:pt x="2975715" y="2277650"/>
                  <a:pt x="2728460" y="2277650"/>
                </a:cubicBezTo>
                <a:lnTo>
                  <a:pt x="447695" y="2277650"/>
                </a:lnTo>
                <a:cubicBezTo>
                  <a:pt x="200440" y="2277650"/>
                  <a:pt x="0" y="2077210"/>
                  <a:pt x="0" y="1829955"/>
                </a:cubicBezTo>
                <a:lnTo>
                  <a:pt x="0" y="447695"/>
                </a:lnTo>
                <a:cubicBezTo>
                  <a:pt x="0" y="200440"/>
                  <a:pt x="200440" y="0"/>
                  <a:pt x="447695"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Key">
            <a:extLst>
              <a:ext uri="{FF2B5EF4-FFF2-40B4-BE49-F238E27FC236}">
                <a16:creationId xmlns:a16="http://schemas.microsoft.com/office/drawing/2014/main" id="{BCD1DFB0-CED7-47D0-5A38-CAA66690C2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32142" y="3429000"/>
            <a:ext cx="1579282" cy="1579282"/>
          </a:xfrm>
          <a:prstGeom prst="rect">
            <a:avLst/>
          </a:prstGeom>
        </p:spPr>
      </p:pic>
      <p:sp>
        <p:nvSpPr>
          <p:cNvPr id="5" name="Footer Placeholder 4">
            <a:extLst>
              <a:ext uri="{FF2B5EF4-FFF2-40B4-BE49-F238E27FC236}">
                <a16:creationId xmlns:a16="http://schemas.microsoft.com/office/drawing/2014/main" id="{C2585A5C-5707-17E0-5D23-41D689CA3ECD}"/>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chemeClr val="tx1"/>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2155456D-B5F9-4F2E-99BC-89420964C5D1}"/>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smtClean="0"/>
              <a:pPr>
                <a:spcAft>
                  <a:spcPts val="600"/>
                </a:spcAft>
              </a:pPr>
              <a:t>6</a:t>
            </a:fld>
            <a:endParaRPr lang="en-US"/>
          </a:p>
        </p:txBody>
      </p:sp>
    </p:spTree>
    <p:extLst>
      <p:ext uri="{BB962C8B-B14F-4D97-AF65-F5344CB8AC3E}">
        <p14:creationId xmlns:p14="http://schemas.microsoft.com/office/powerpoint/2010/main" val="2595286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30F25F-7390-A3F6-08CD-ABD7C3A7A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Calculator, pen, compass, money and a paper with graphs printed on it">
            <a:extLst>
              <a:ext uri="{FF2B5EF4-FFF2-40B4-BE49-F238E27FC236}">
                <a16:creationId xmlns:a16="http://schemas.microsoft.com/office/drawing/2014/main" id="{98BB38B6-EDDF-9751-1665-0BDDAF83B232}"/>
              </a:ext>
            </a:extLst>
          </p:cNvPr>
          <p:cNvPicPr>
            <a:picLocks noChangeAspect="1"/>
          </p:cNvPicPr>
          <p:nvPr/>
        </p:nvPicPr>
        <p:blipFill>
          <a:blip r:embed="rId3"/>
          <a:srcRect b="6639"/>
          <a:stretch>
            <a:fillRect/>
          </a:stretch>
        </p:blipFill>
        <p:spPr>
          <a:xfrm>
            <a:off x="1" y="1"/>
            <a:ext cx="12192000" cy="6858000"/>
          </a:xfrm>
          <a:prstGeom prst="rect">
            <a:avLst/>
          </a:prstGeom>
        </p:spPr>
      </p:pic>
      <p:sp useBgFill="1">
        <p:nvSpPr>
          <p:cNvPr id="14" name="Freeform: Shape 13">
            <a:extLst>
              <a:ext uri="{FF2B5EF4-FFF2-40B4-BE49-F238E27FC236}">
                <a16:creationId xmlns:a16="http://schemas.microsoft.com/office/drawing/2014/main" id="{47F8E9A3-29C0-2BE8-E41E-EDFE94D87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custGeom>
            <a:avLst/>
            <a:gdLst>
              <a:gd name="connsiteX0" fmla="*/ 4948878 w 12192000"/>
              <a:gd name="connsiteY0" fmla="*/ 65131 h 6858000"/>
              <a:gd name="connsiteX1" fmla="*/ 4305301 w 12192000"/>
              <a:gd name="connsiteY1" fmla="*/ 708707 h 6858000"/>
              <a:gd name="connsiteX2" fmla="*/ 4305301 w 12192000"/>
              <a:gd name="connsiteY2" fmla="*/ 6149294 h 6858000"/>
              <a:gd name="connsiteX3" fmla="*/ 4948878 w 12192000"/>
              <a:gd name="connsiteY3" fmla="*/ 6792870 h 6858000"/>
              <a:gd name="connsiteX4" fmla="*/ 11471815 w 12192000"/>
              <a:gd name="connsiteY4" fmla="*/ 6792870 h 6858000"/>
              <a:gd name="connsiteX5" fmla="*/ 12115391 w 12192000"/>
              <a:gd name="connsiteY5" fmla="*/ 6149294 h 6858000"/>
              <a:gd name="connsiteX6" fmla="*/ 12115391 w 12192000"/>
              <a:gd name="connsiteY6" fmla="*/ 708707 h 6858000"/>
              <a:gd name="connsiteX7" fmla="*/ 11471815 w 12192000"/>
              <a:gd name="connsiteY7" fmla="*/ 6513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948878" y="65131"/>
                </a:moveTo>
                <a:cubicBezTo>
                  <a:pt x="4593440" y="65131"/>
                  <a:pt x="4305301" y="353270"/>
                  <a:pt x="4305301" y="708707"/>
                </a:cubicBezTo>
                <a:lnTo>
                  <a:pt x="4305301" y="6149294"/>
                </a:lnTo>
                <a:cubicBezTo>
                  <a:pt x="4305301" y="6504731"/>
                  <a:pt x="4593440" y="6792870"/>
                  <a:pt x="4948878" y="6792870"/>
                </a:cubicBezTo>
                <a:lnTo>
                  <a:pt x="11471815" y="6792870"/>
                </a:lnTo>
                <a:cubicBezTo>
                  <a:pt x="11827252" y="6792870"/>
                  <a:pt x="12115391" y="6504731"/>
                  <a:pt x="12115391" y="6149294"/>
                </a:cubicBezTo>
                <a:lnTo>
                  <a:pt x="12115391" y="708707"/>
                </a:lnTo>
                <a:cubicBezTo>
                  <a:pt x="12115391" y="353270"/>
                  <a:pt x="11827252" y="65131"/>
                  <a:pt x="11471815" y="65131"/>
                </a:cubicBezTo>
                <a:close/>
                <a:moveTo>
                  <a:pt x="0" y="0"/>
                </a:moveTo>
                <a:lnTo>
                  <a:pt x="12192000" y="0"/>
                </a:lnTo>
                <a:lnTo>
                  <a:pt x="12192000" y="6858000"/>
                </a:lnTo>
                <a:lnTo>
                  <a:pt x="0" y="6858000"/>
                </a:lnTo>
                <a:close/>
              </a:path>
            </a:pathLst>
          </a:cu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DB512D2-50E9-A14C-30A3-57448E55EFDC}"/>
              </a:ext>
            </a:extLst>
          </p:cNvPr>
          <p:cNvSpPr>
            <a:spLocks noGrp="1"/>
          </p:cNvSpPr>
          <p:nvPr>
            <p:ph type="title"/>
          </p:nvPr>
        </p:nvSpPr>
        <p:spPr>
          <a:xfrm>
            <a:off x="312252" y="752137"/>
            <a:ext cx="3698627" cy="1124790"/>
          </a:xfrm>
        </p:spPr>
        <p:txBody>
          <a:bodyPr vert="horz" lIns="91440" tIns="45720" rIns="91440" bIns="45720" rtlCol="0" anchor="t">
            <a:normAutofit fontScale="90000"/>
          </a:bodyPr>
          <a:lstStyle/>
          <a:p>
            <a:r>
              <a:rPr lang="en-US" sz="4000" dirty="0"/>
              <a:t>Project Budget Overview</a:t>
            </a:r>
          </a:p>
        </p:txBody>
      </p:sp>
      <p:sp>
        <p:nvSpPr>
          <p:cNvPr id="3" name="Text Placeholder 2">
            <a:extLst>
              <a:ext uri="{FF2B5EF4-FFF2-40B4-BE49-F238E27FC236}">
                <a16:creationId xmlns:a16="http://schemas.microsoft.com/office/drawing/2014/main" id="{E28401D1-B5F7-2E53-4D07-3A2091640354}"/>
              </a:ext>
            </a:extLst>
          </p:cNvPr>
          <p:cNvSpPr>
            <a:spLocks noGrp="1"/>
          </p:cNvSpPr>
          <p:nvPr>
            <p:ph type="body" idx="1"/>
          </p:nvPr>
        </p:nvSpPr>
        <p:spPr>
          <a:xfrm>
            <a:off x="340137" y="3051208"/>
            <a:ext cx="3698627" cy="2256322"/>
          </a:xfrm>
        </p:spPr>
        <p:txBody>
          <a:bodyPr vert="horz" lIns="91440" tIns="45720" rIns="91440" bIns="45720" rtlCol="0" anchor="b">
            <a:normAutofit lnSpcReduction="10000"/>
          </a:bodyPr>
          <a:lstStyle/>
          <a:p>
            <a:pPr marL="342900" indent="-342900">
              <a:buFont typeface="Arial" panose="020B0604020202020204" pitchFamily="34" charset="0"/>
              <a:buChar char="•"/>
            </a:pPr>
            <a:r>
              <a:rPr lang="en-US" sz="1600" dirty="0">
                <a:solidFill>
                  <a:schemeClr val="tx1"/>
                </a:solidFill>
              </a:rPr>
              <a:t>Total Labor Hours: 359</a:t>
            </a:r>
          </a:p>
          <a:p>
            <a:pPr marL="342900" indent="-342900">
              <a:buFont typeface="Arial" panose="020B0604020202020204" pitchFamily="34" charset="0"/>
              <a:buChar char="•"/>
            </a:pPr>
            <a:r>
              <a:rPr lang="en-US" sz="1600" dirty="0">
                <a:solidFill>
                  <a:schemeClr val="tx1"/>
                </a:solidFill>
              </a:rPr>
              <a:t>Total Cost: $8,657</a:t>
            </a:r>
          </a:p>
          <a:p>
            <a:pPr marL="342900" indent="-342900">
              <a:buFont typeface="Arial" panose="020B0604020202020204" pitchFamily="34" charset="0"/>
              <a:buChar char="•"/>
            </a:pPr>
            <a:r>
              <a:rPr lang="en-US" sz="1600" dirty="0">
                <a:solidFill>
                  <a:schemeClr val="tx1"/>
                </a:solidFill>
              </a:rPr>
              <a:t>Major Costs: Design &amp; Development</a:t>
            </a:r>
          </a:p>
          <a:p>
            <a:pPr marL="342900" indent="-342900">
              <a:buFont typeface="Arial" panose="020B0604020202020204" pitchFamily="34" charset="0"/>
              <a:buChar char="•"/>
            </a:pPr>
            <a:r>
              <a:rPr lang="en-US" sz="1600" dirty="0">
                <a:solidFill>
                  <a:schemeClr val="tx1"/>
                </a:solidFill>
              </a:rPr>
              <a:t>Contingency: $0</a:t>
            </a:r>
          </a:p>
          <a:p>
            <a:pPr marL="342900" indent="-342900">
              <a:buFont typeface="Arial" panose="020B0604020202020204" pitchFamily="34" charset="0"/>
              <a:buChar char="•"/>
            </a:pPr>
            <a:r>
              <a:rPr lang="en-US" sz="1600" dirty="0">
                <a:solidFill>
                  <a:schemeClr val="tx1"/>
                </a:solidFill>
              </a:rPr>
              <a:t>Budget aligned with WBS</a:t>
            </a:r>
          </a:p>
        </p:txBody>
      </p:sp>
      <p:sp>
        <p:nvSpPr>
          <p:cNvPr id="4" name="Date Placeholder 3">
            <a:extLst>
              <a:ext uri="{FF2B5EF4-FFF2-40B4-BE49-F238E27FC236}">
                <a16:creationId xmlns:a16="http://schemas.microsoft.com/office/drawing/2014/main" id="{E0780041-298F-FE24-D515-CD795312B226}"/>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smtClean="0"/>
              <a:pPr>
                <a:spcAft>
                  <a:spcPts val="600"/>
                </a:spcAft>
              </a:pPr>
              <a:t>12/9/2025</a:t>
            </a:fld>
            <a:endParaRPr lang="en-US"/>
          </a:p>
        </p:txBody>
      </p:sp>
      <p:sp>
        <p:nvSpPr>
          <p:cNvPr id="5" name="Footer Placeholder 4">
            <a:extLst>
              <a:ext uri="{FF2B5EF4-FFF2-40B4-BE49-F238E27FC236}">
                <a16:creationId xmlns:a16="http://schemas.microsoft.com/office/drawing/2014/main" id="{AF4B931C-D773-0494-33B4-F0A2F53EE7CA}"/>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rgbClr val="FFFFFF"/>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874BC626-8DD8-2742-383B-48F8C4295640}"/>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solidFill>
                  <a:srgbClr val="FFFFFF"/>
                </a:solidFill>
              </a:rPr>
              <a:pPr>
                <a:spcAft>
                  <a:spcPts val="600"/>
                </a:spcAft>
              </a:pPr>
              <a:t>7</a:t>
            </a:fld>
            <a:endParaRPr lang="en-US">
              <a:solidFill>
                <a:srgbClr val="FFFFFF"/>
              </a:solidFill>
            </a:endParaRPr>
          </a:p>
        </p:txBody>
      </p:sp>
    </p:spTree>
    <p:extLst>
      <p:ext uri="{BB962C8B-B14F-4D97-AF65-F5344CB8AC3E}">
        <p14:creationId xmlns:p14="http://schemas.microsoft.com/office/powerpoint/2010/main" val="99109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30F25F-7390-A3F6-08CD-ABD7C3A7A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White arrows painted on the asphalt">
            <a:extLst>
              <a:ext uri="{FF2B5EF4-FFF2-40B4-BE49-F238E27FC236}">
                <a16:creationId xmlns:a16="http://schemas.microsoft.com/office/drawing/2014/main" id="{642B5704-6B1D-3BAC-E01D-280F8E15446C}"/>
              </a:ext>
            </a:extLst>
          </p:cNvPr>
          <p:cNvPicPr>
            <a:picLocks noChangeAspect="1"/>
          </p:cNvPicPr>
          <p:nvPr/>
        </p:nvPicPr>
        <p:blipFill>
          <a:blip r:embed="rId3"/>
          <a:srcRect t="1113" b="13981"/>
          <a:stretch>
            <a:fillRect/>
          </a:stretch>
        </p:blipFill>
        <p:spPr>
          <a:xfrm>
            <a:off x="1" y="1"/>
            <a:ext cx="12192000" cy="6858000"/>
          </a:xfrm>
          <a:prstGeom prst="rect">
            <a:avLst/>
          </a:prstGeom>
        </p:spPr>
      </p:pic>
      <p:sp useBgFill="1">
        <p:nvSpPr>
          <p:cNvPr id="14" name="Freeform: Shape 13">
            <a:extLst>
              <a:ext uri="{FF2B5EF4-FFF2-40B4-BE49-F238E27FC236}">
                <a16:creationId xmlns:a16="http://schemas.microsoft.com/office/drawing/2014/main" id="{47F8E9A3-29C0-2BE8-E41E-EDFE94D87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custGeom>
            <a:avLst/>
            <a:gdLst>
              <a:gd name="connsiteX0" fmla="*/ 4948878 w 12192000"/>
              <a:gd name="connsiteY0" fmla="*/ 65131 h 6858000"/>
              <a:gd name="connsiteX1" fmla="*/ 4305301 w 12192000"/>
              <a:gd name="connsiteY1" fmla="*/ 708707 h 6858000"/>
              <a:gd name="connsiteX2" fmla="*/ 4305301 w 12192000"/>
              <a:gd name="connsiteY2" fmla="*/ 6149294 h 6858000"/>
              <a:gd name="connsiteX3" fmla="*/ 4948878 w 12192000"/>
              <a:gd name="connsiteY3" fmla="*/ 6792870 h 6858000"/>
              <a:gd name="connsiteX4" fmla="*/ 11471815 w 12192000"/>
              <a:gd name="connsiteY4" fmla="*/ 6792870 h 6858000"/>
              <a:gd name="connsiteX5" fmla="*/ 12115391 w 12192000"/>
              <a:gd name="connsiteY5" fmla="*/ 6149294 h 6858000"/>
              <a:gd name="connsiteX6" fmla="*/ 12115391 w 12192000"/>
              <a:gd name="connsiteY6" fmla="*/ 708707 h 6858000"/>
              <a:gd name="connsiteX7" fmla="*/ 11471815 w 12192000"/>
              <a:gd name="connsiteY7" fmla="*/ 65131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948878" y="65131"/>
                </a:moveTo>
                <a:cubicBezTo>
                  <a:pt x="4593440" y="65131"/>
                  <a:pt x="4305301" y="353270"/>
                  <a:pt x="4305301" y="708707"/>
                </a:cubicBezTo>
                <a:lnTo>
                  <a:pt x="4305301" y="6149294"/>
                </a:lnTo>
                <a:cubicBezTo>
                  <a:pt x="4305301" y="6504731"/>
                  <a:pt x="4593440" y="6792870"/>
                  <a:pt x="4948878" y="6792870"/>
                </a:cubicBezTo>
                <a:lnTo>
                  <a:pt x="11471815" y="6792870"/>
                </a:lnTo>
                <a:cubicBezTo>
                  <a:pt x="11827252" y="6792870"/>
                  <a:pt x="12115391" y="6504731"/>
                  <a:pt x="12115391" y="6149294"/>
                </a:cubicBezTo>
                <a:lnTo>
                  <a:pt x="12115391" y="708707"/>
                </a:lnTo>
                <a:cubicBezTo>
                  <a:pt x="12115391" y="353270"/>
                  <a:pt x="11827252" y="65131"/>
                  <a:pt x="11471815" y="65131"/>
                </a:cubicBezTo>
                <a:close/>
                <a:moveTo>
                  <a:pt x="0" y="0"/>
                </a:moveTo>
                <a:lnTo>
                  <a:pt x="12192000" y="0"/>
                </a:lnTo>
                <a:lnTo>
                  <a:pt x="12192000" y="6858000"/>
                </a:lnTo>
                <a:lnTo>
                  <a:pt x="0" y="6858000"/>
                </a:lnTo>
                <a:close/>
              </a:path>
            </a:pathLst>
          </a:cu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244572D-C4E3-B3BC-A01C-0CD565AC63EB}"/>
              </a:ext>
            </a:extLst>
          </p:cNvPr>
          <p:cNvSpPr>
            <a:spLocks noGrp="1"/>
          </p:cNvSpPr>
          <p:nvPr>
            <p:ph type="title"/>
          </p:nvPr>
        </p:nvSpPr>
        <p:spPr>
          <a:xfrm>
            <a:off x="312252" y="752137"/>
            <a:ext cx="3698627" cy="1182542"/>
          </a:xfrm>
        </p:spPr>
        <p:txBody>
          <a:bodyPr vert="horz" lIns="91440" tIns="45720" rIns="91440" bIns="45720" rtlCol="0" anchor="t">
            <a:normAutofit fontScale="90000"/>
          </a:bodyPr>
          <a:lstStyle/>
          <a:p>
            <a:r>
              <a:rPr lang="en-US" sz="4000" dirty="0"/>
              <a:t>Next Steps &amp; Decisions</a:t>
            </a:r>
          </a:p>
        </p:txBody>
      </p:sp>
      <p:sp>
        <p:nvSpPr>
          <p:cNvPr id="3" name="Text Placeholder 2">
            <a:extLst>
              <a:ext uri="{FF2B5EF4-FFF2-40B4-BE49-F238E27FC236}">
                <a16:creationId xmlns:a16="http://schemas.microsoft.com/office/drawing/2014/main" id="{3F7D9AA5-A47C-4EF6-6921-9C895833CBE5}"/>
              </a:ext>
            </a:extLst>
          </p:cNvPr>
          <p:cNvSpPr>
            <a:spLocks noGrp="1"/>
          </p:cNvSpPr>
          <p:nvPr>
            <p:ph type="body" idx="1"/>
          </p:nvPr>
        </p:nvSpPr>
        <p:spPr>
          <a:xfrm>
            <a:off x="312252" y="3099335"/>
            <a:ext cx="3698627" cy="2920465"/>
          </a:xfrm>
        </p:spPr>
        <p:txBody>
          <a:bodyPr vert="horz" lIns="91440" tIns="45720" rIns="91440" bIns="45720" rtlCol="0" anchor="b">
            <a:normAutofit fontScale="92500" lnSpcReduction="10000"/>
          </a:bodyPr>
          <a:lstStyle/>
          <a:p>
            <a:pPr marL="342900" indent="-342900">
              <a:buFont typeface="Wingdings" panose="05000000000000000000" pitchFamily="2" charset="2"/>
              <a:buChar char="q"/>
            </a:pPr>
            <a:r>
              <a:rPr lang="en-US" dirty="0">
                <a:solidFill>
                  <a:schemeClr val="tx1"/>
                </a:solidFill>
              </a:rPr>
              <a:t>Begin UI Development 11/28</a:t>
            </a:r>
          </a:p>
          <a:p>
            <a:pPr marL="342900" indent="-342900">
              <a:buFont typeface="Wingdings" panose="05000000000000000000" pitchFamily="2" charset="2"/>
              <a:buChar char="q"/>
            </a:pPr>
            <a:r>
              <a:rPr lang="en-US" dirty="0">
                <a:solidFill>
                  <a:schemeClr val="tx1"/>
                </a:solidFill>
              </a:rPr>
              <a:t>Review milestones weekly</a:t>
            </a:r>
          </a:p>
          <a:p>
            <a:pPr marL="342900" indent="-342900">
              <a:buFont typeface="Wingdings" panose="05000000000000000000" pitchFamily="2" charset="2"/>
              <a:buChar char="q"/>
            </a:pPr>
            <a:r>
              <a:rPr lang="en-US" dirty="0">
                <a:solidFill>
                  <a:schemeClr val="tx1"/>
                </a:solidFill>
              </a:rPr>
              <a:t>Confirm gallery photo assets</a:t>
            </a:r>
          </a:p>
          <a:p>
            <a:pPr marL="342900" indent="-342900">
              <a:buFont typeface="Wingdings" panose="05000000000000000000" pitchFamily="2" charset="2"/>
              <a:buChar char="q"/>
            </a:pPr>
            <a:r>
              <a:rPr lang="en-US" dirty="0">
                <a:solidFill>
                  <a:schemeClr val="tx1"/>
                </a:solidFill>
              </a:rPr>
              <a:t>Stakeholder approvals required</a:t>
            </a:r>
          </a:p>
          <a:p>
            <a:pPr marL="342900" indent="-342900">
              <a:buFont typeface="Wingdings" panose="05000000000000000000" pitchFamily="2" charset="2"/>
              <a:buChar char="q"/>
            </a:pPr>
            <a:r>
              <a:rPr lang="en-US" dirty="0">
                <a:solidFill>
                  <a:schemeClr val="tx1"/>
                </a:solidFill>
              </a:rPr>
              <a:t>Monitor budget &amp; schedule</a:t>
            </a:r>
          </a:p>
        </p:txBody>
      </p:sp>
      <p:sp>
        <p:nvSpPr>
          <p:cNvPr id="4" name="Date Placeholder 3">
            <a:extLst>
              <a:ext uri="{FF2B5EF4-FFF2-40B4-BE49-F238E27FC236}">
                <a16:creationId xmlns:a16="http://schemas.microsoft.com/office/drawing/2014/main" id="{BB943DD1-B892-85AA-1BF3-72B3737863ED}"/>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6477AEB6-FCE1-4CD5-923B-84E54F1460D5}" type="datetime1">
              <a:rPr lang="en-US" smtClean="0"/>
              <a:pPr>
                <a:spcAft>
                  <a:spcPts val="600"/>
                </a:spcAft>
              </a:pPr>
              <a:t>12/9/2025</a:t>
            </a:fld>
            <a:endParaRPr lang="en-US"/>
          </a:p>
        </p:txBody>
      </p:sp>
      <p:sp>
        <p:nvSpPr>
          <p:cNvPr id="5" name="Footer Placeholder 4">
            <a:extLst>
              <a:ext uri="{FF2B5EF4-FFF2-40B4-BE49-F238E27FC236}">
                <a16:creationId xmlns:a16="http://schemas.microsoft.com/office/drawing/2014/main" id="{F1BCC3C2-8B56-F95C-2FF9-D049E2E040D3}"/>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rgbClr val="FFFFFF"/>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D26D40C1-865D-B811-0F47-61FEDC60528B}"/>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solidFill>
                  <a:srgbClr val="FFFFFF"/>
                </a:solidFill>
              </a:rPr>
              <a:pPr>
                <a:spcAft>
                  <a:spcPts val="600"/>
                </a:spcAft>
              </a:pPr>
              <a:t>8</a:t>
            </a:fld>
            <a:endParaRPr lang="en-US">
              <a:solidFill>
                <a:srgbClr val="FFFFFF"/>
              </a:solidFill>
            </a:endParaRPr>
          </a:p>
        </p:txBody>
      </p:sp>
    </p:spTree>
    <p:extLst>
      <p:ext uri="{BB962C8B-B14F-4D97-AF65-F5344CB8AC3E}">
        <p14:creationId xmlns:p14="http://schemas.microsoft.com/office/powerpoint/2010/main" val="65829543"/>
      </p:ext>
    </p:extLst>
  </p:cSld>
  <p:clrMapOvr>
    <a:masterClrMapping/>
  </p:clrMapOvr>
</p:sld>
</file>

<file path=ppt/theme/theme1.xml><?xml version="1.0" encoding="utf-8"?>
<a:theme xmlns:a="http://schemas.openxmlformats.org/drawingml/2006/main" name="DylanVTI">
  <a:themeElements>
    <a:clrScheme name="Custom 8">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602636BD-A055-489B-83EC-AD971B7E5F9C}" vid="{CD33A9BC-C4B5-4F36-8A14-490DC4E38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747</Words>
  <Application>Microsoft Office PowerPoint</Application>
  <PresentationFormat>Widescreen</PresentationFormat>
  <Paragraphs>89</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Courier New</vt:lpstr>
      <vt:lpstr>Neue Haas Grotesk Text Pro</vt:lpstr>
      <vt:lpstr>Wingdings</vt:lpstr>
      <vt:lpstr>DylanVTI</vt:lpstr>
      <vt:lpstr>Golden Hour Studios Website Project</vt:lpstr>
      <vt:lpstr>Project Concept</vt:lpstr>
      <vt:lpstr>Project Stakeholders</vt:lpstr>
      <vt:lpstr>Scope &amp; Requirements</vt:lpstr>
      <vt:lpstr>Work Breakdown Structure</vt:lpstr>
      <vt:lpstr>Key Findings &amp; Challenges</vt:lpstr>
      <vt:lpstr>Project Budget Overview</vt:lpstr>
      <vt:lpstr>Next Steps &amp;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Aron Alley</dc:creator>
  <cp:lastModifiedBy>Aron Alley</cp:lastModifiedBy>
  <cp:revision>1</cp:revision>
  <dcterms:created xsi:type="dcterms:W3CDTF">2025-12-09T22:54:37Z</dcterms:created>
  <dcterms:modified xsi:type="dcterms:W3CDTF">2025-12-10T00:16:23Z</dcterms:modified>
</cp:coreProperties>
</file>